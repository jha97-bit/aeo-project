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-1-1.jpg" ContentType="image/jpg"/>
  <Override PartName="/ppt/media/image-15-1.jpg" ContentType="image/jpg"/>
  <Override PartName="/ppt/media/image-2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1CE"/>
              </a:solidFill>
              <a:effectLst/>
            </c:spPr>
          </c:dPt>
          <c:dPt>
            <c:idx val="1"/>
            <c:bubble3D val="0"/>
            <c:spPr>
              <a:solidFill>
                <a:srgbClr val="FFC22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Negative-Binomial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</c:v>
                </c:pt>
                <c:pt idx="1">
                  <c:v>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weekly profit</c:v>
                </c:pt>
              </c:strCache>
            </c:strRef>
          </c:tx>
          <c:spPr>
            <a:solidFill>
              <a:srgbClr val="0071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Before
corrections</c:v>
                  </c:pt>
                  <c:pt idx="1">
                    <c:v>Corrected
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149.25</c:v>
                </c:pt>
                <c:pt idx="1">
                  <c:v>317.31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weekly profit</c:v>
                </c:pt>
              </c:strCache>
            </c:strRef>
          </c:tx>
          <c:spPr>
            <a:solidFill>
              <a:srgbClr val="0071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Model A
continuous</c:v>
                  </c:pt>
                  <c:pt idx="1">
                    <c:v>Model B
case-pack</c:v>
                  </c:pt>
                  <c:pt idx="2">
                    <c:v>Model C
pack + discount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317.31</c:v>
                </c:pt>
                <c:pt idx="1">
                  <c:v>310.93</c:v>
                </c:pt>
                <c:pt idx="2">
                  <c:v>451.58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1 · 0:00–0:45. Hook the audience with the buyer decision: place next week's order today under uncertainty.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1 · 0:45–1:30. State the SKU scope, objective, and three constraints. Do not go deep into methodology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2 · 1:30–2:20. Explain distribution fitting, SAA, and why mean demand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2 · 2:20–3:15. Show CR and SLSQP justification. Avoid overclaiming global optimality unless feasibility and convergence are satisfied.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2 · 3:15–4:05. This slide pre-empts methodology questions from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2 · 4:05–5:00. Be explicit about assumptions and the fill-rate recalibration.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3 · 5:00–6:10. Explain the three bug fixes and headline lift.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3 · 6:10–7:15. Be direct about the KKT partial fail and frame it as a validation item to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3 · 7:15–8:20. Explain why the solver changes when case packs and all-units discounts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3 · 8:20–10:30. Model B is an insight, not a failure: volume commitments need price concessions.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4 · 10:30–11:15. Use the table to summarize Task 1, Task 2, benchmark, and highest-profit SKU.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4 · 11:15–12:10. This slide answers “how do you know it worked?” while avoiding overclaims.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4 · 12:10–13:00. Keep this human and practical; summarize what the class concepts taught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5 · 13:00–14:00. Use the flowchart to show the agent architecture; no live demo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 5 · 14:00–15:00. End with four actions and the main business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almart_shelf_scanning.jpg">    </p:cNvPr>
          <p:cNvPicPr>
            <a:picLocks noChangeAspect="1"/>
          </p:cNvPicPr>
          <p:nvPr/>
        </p:nvPicPr>
        <p:blipFill>
          <a:blip r:embed="rId1"/>
          <a:srcRect l="8000" r="45117" t="0" b="0"/>
          <a:stretch/>
        </p:blipFill>
        <p:spPr>
          <a:xfrm>
            <a:off x="6446520" y="0"/>
            <a:ext cx="57424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82512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3232" y="914400"/>
            <a:ext cx="1874520" cy="0"/>
          </a:xfrm>
          <a:prstGeom prst="line">
            <a:avLst/>
          </a:prstGeom>
          <a:noFill/>
          <a:ln w="63500">
            <a:solidFill>
              <a:srgbClr val="FFC22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225296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we order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demand shows up?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31520" y="28163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AI-Driven Inventory Optimization Agent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18211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CFE8FF"/>
                </a:solidFill>
              </a:rPr>
              <a:t>Walmart CA_1 · HOUSEHOLD_1 · 15 SKUs · June 2026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731520" y="4892040"/>
            <a:ext cx="5074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</a:rPr>
              <a:t>Over-ordering creates markdown and holding losses. Under-ordering creates stockouts and lost revenue. The agent converts uncertain demand into an actionable weekly ordering policy.</a:t>
            </a:r>
            <a:endParaRPr lang="en-US" sz="1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Maximize expected weekly profit under uncertainty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6629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Decision: choose weekly quantities Qᵢ before demand Dᵢ is realized.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2057400"/>
            <a:ext cx="214884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057400"/>
            <a:ext cx="64008" cy="95097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67128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Budget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914400" y="23865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≤ $3,500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7706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supplier procurement cost</a:t>
            </a:r>
            <a:endParaRPr lang="en-US" sz="840" dirty="0"/>
          </a:p>
        </p:txBody>
      </p:sp>
      <p:sp>
        <p:nvSpPr>
          <p:cNvPr id="14" name="Shape 12"/>
          <p:cNvSpPr/>
          <p:nvPr/>
        </p:nvSpPr>
        <p:spPr>
          <a:xfrm>
            <a:off x="3246120" y="2057400"/>
            <a:ext cx="214884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2057400"/>
            <a:ext cx="64008" cy="95097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2167128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Storage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3410712" y="23865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≤ 1,200 units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10712" y="27706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shelf + backroom capacity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742432" y="2057400"/>
            <a:ext cx="214884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42432" y="2057400"/>
            <a:ext cx="64008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2167128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Fill-rate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5907024" y="23865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≥ 35% per SKU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07024" y="2770632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service-level floor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49808" y="3703320"/>
            <a:ext cx="6629400" cy="1234440"/>
          </a:xfrm>
          <a:prstGeom prst="rect">
            <a:avLst/>
          </a:prstGeom>
          <a:solidFill>
            <a:srgbClr val="E8F3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3849624"/>
            <a:ext cx="6263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Business objective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2688" y="4142232"/>
            <a:ext cx="626364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Find the order quantities that maximize expected profit, not just forecast accuracy. The agent explicitly weighs lost sales against excess inventory.</a:t>
            </a:r>
            <a:endParaRPr lang="en-US" sz="1120" dirty="0"/>
          </a:p>
        </p:txBody>
      </p:sp>
      <p:pic>
        <p:nvPicPr>
          <p:cNvPr id="27" name="Image 0" descr="/mnt/data/walmart_stocking.jpg">    </p:cNvPr>
          <p:cNvPicPr>
            <a:picLocks noChangeAspect="1"/>
          </p:cNvPicPr>
          <p:nvPr/>
        </p:nvPicPr>
        <p:blipFill>
          <a:blip r:embed="rId1"/>
          <a:srcRect l="15000" r="34451" t="0" b="0"/>
          <a:stretch/>
        </p:blipFill>
        <p:spPr>
          <a:xfrm>
            <a:off x="8092440" y="1417320"/>
            <a:ext cx="31546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Demand modeling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historical sales to 1,000 possible future weeks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35331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43B53"/>
                </a:solidFill>
              </a:rPr>
              <a:t>M5 Walmart daily sales were aggregated to weekly demand. Weeks 1–78 train the models; weeks 79–104 validate out-of-sample.</a:t>
            </a:r>
            <a:endParaRPr lang="en-US" sz="15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1901952"/>
          <a:ext cx="3337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1783080" y="296265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02A43"/>
                </a:solidFill>
              </a:rPr>
              <a:t>12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1527048" y="3355848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6B73"/>
                </a:solidFill>
              </a:rPr>
              <a:t>Normal SKUs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709160" y="1901952"/>
            <a:ext cx="2743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0482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AIC + KS tests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92040" y="2340864"/>
            <a:ext cx="2377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AIC selects Normal or Negative-Binomial per SKU; KS p-values check fit adequacy.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4709160" y="3127248"/>
            <a:ext cx="2743200" cy="987552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32735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</a:rPr>
              <a:t>SAA scenarios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920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1,000 bootstrapped weekly demand scenarios approximate expected profit.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909560" y="1901952"/>
            <a:ext cx="2971800" cy="2212848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2440" y="204825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Prediction ≠ prescription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092440" y="2340864"/>
            <a:ext cx="260604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Mean-demand ordering minimizes forecast error. Newsvendor ordering maximizes profit by using Q* = F⁻¹(CR), so optimal Q* differs from the mean when underage and overage costs are unequal.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Optimization formulation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Newsvendor economics converted into a constrained portfolio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1CE"/>
                </a:solidFill>
              </a:rPr>
              <a:t>Objective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maximize  E[ Σᵢ πᵢ(Qᵢ, Dᵢ) 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374904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43B53"/>
                </a:solidFill>
              </a:rPr>
              <a:t>revenue from min(Dᵢ, Qᵢ)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43B53"/>
                </a:solidFill>
              </a:rPr>
              <a:t>minus procurement cost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243B53"/>
                </a:solidFill>
              </a:rPr>
              <a:t>minus leftover / holding economics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5074920" y="1554480"/>
            <a:ext cx="0" cy="3383280"/>
          </a:xfrm>
          <a:prstGeom prst="line">
            <a:avLst/>
          </a:prstGeom>
          <a:noFill/>
          <a:ln w="12700">
            <a:solidFill>
              <a:srgbClr val="C9D6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1CE"/>
                </a:solidFill>
              </a:rPr>
              <a:t>Critical ratio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0" y="1783080"/>
            <a:ext cx="4297680" cy="104241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139696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CR = cᵤ / (cᵤ + cₒ) ≈ 0.618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0" y="3154680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1CE"/>
                </a:solidFill>
              </a:rPr>
              <a:t>Q* = F⁻¹(CR)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77840" y="3703320"/>
            <a:ext cx="4160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43B53"/>
                </a:solidFill>
              </a:rPr>
              <a:t>Order around the 61.8th percentile because under-ordering is modeled as more costly than over-ordering.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9144000" cy="658368"/>
          </a:xfrm>
          <a:prstGeom prst="rect">
            <a:avLst/>
          </a:prstGeom>
          <a:solidFill>
            <a:srgbClr val="E8F3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21224"/>
            <a:ext cx="8778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Solver choice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513832"/>
            <a:ext cx="877824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Task 1 uses SLSQP because the intended SAA newsvendor objective is concave and the feasible set is linear/convex; if the solver converges to a feasible KKT point, it certifies global optimality.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Methodology justification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techniques were used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508760"/>
            <a:ext cx="201168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8191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Choice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2724912" y="1508760"/>
            <a:ext cx="512064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9776" y="158191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Why it fits this problem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845552" y="1508760"/>
            <a:ext cx="342900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0416" y="1581912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FFFFFF"/>
                </a:solidFill>
              </a:rPr>
              <a:t>Question it answers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713232" y="1984248"/>
            <a:ext cx="201168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057400"/>
            <a:ext cx="1901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AIC distribution fit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2724912" y="1984248"/>
            <a:ext cx="512064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9776" y="2057400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Lets each SKU use Normal or Negative-Binomial demand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7845552" y="1984248"/>
            <a:ext cx="342900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0416" y="2057400"/>
            <a:ext cx="33192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What does demand look like?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13232" y="2560320"/>
            <a:ext cx="2011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633472"/>
            <a:ext cx="1901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SAA with 1,000 scenarios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724912" y="2560320"/>
            <a:ext cx="51206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9776" y="2633472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Handles stochastic demand without fragile analytical expectations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7845552" y="2560320"/>
            <a:ext cx="3429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00416" y="2633472"/>
            <a:ext cx="33192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What is expected profit?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713232" y="3136392"/>
            <a:ext cx="201168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209544"/>
            <a:ext cx="1901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SLSQP for Task 1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2724912" y="3136392"/>
            <a:ext cx="512064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79776" y="3209544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Efficient for continuous constrained optimization when convexity holds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845552" y="3136392"/>
            <a:ext cx="342900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00416" y="3209544"/>
            <a:ext cx="33192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What is the best Q* policy?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13232" y="3712464"/>
            <a:ext cx="20116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3785616"/>
            <a:ext cx="1901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Coordinate descent for Task 2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2724912" y="3712464"/>
            <a:ext cx="51206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79776" y="3785616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Works on discrete case-pack multiples and discount discontinuities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7845552" y="3712464"/>
            <a:ext cx="3429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0416" y="3785616"/>
            <a:ext cx="33192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What if order rules are non-convex?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713232" y="4288536"/>
            <a:ext cx="201168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4361688"/>
            <a:ext cx="1901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Bayesian optimization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2724912" y="4288536"/>
            <a:ext cx="512064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9776" y="4361688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Explores cost-parameter scenarios with few evaluations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7845552" y="4288536"/>
            <a:ext cx="3429000" cy="576072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0416" y="4361688"/>
            <a:ext cx="33192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243B53"/>
                </a:solidFill>
              </a:rPr>
              <a:t>How sensitive are assumptions?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713232" y="5394960"/>
            <a:ext cx="10561320" cy="530352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" y="554126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Key message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96112" y="5833872"/>
            <a:ext cx="10195560" cy="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The deck uses different solvers because Task 1 is continuous and convex-like, while Task 2 becomes discrete and non-convex after case-pack discounts.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Assumptions and limitations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must be true for the policy to stay reliable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480060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465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Demand stationarity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44348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Weekly demand is treated as i.i.d. from fitted distributions. Promotions or seasonality can shift Q* upward.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480060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74650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Single-period horizon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039112"/>
            <a:ext cx="44348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No carry-over inventory is modeled. A multi-period model would capture safety stock and leftover inventory.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77240" y="3337560"/>
            <a:ext cx="4800600" cy="12070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838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Cost assumptions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3776472"/>
            <a:ext cx="44348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Gross margin, salvage rate, and stockout penalty ratio define the critical ratio and profit tradeoff.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4800600" cy="1207008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483864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Service-level calibration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3776472"/>
            <a:ext cx="443484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Original 0.72 fill-rate target was infeasible; 0.35 is closer to the observed achievable range.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77240" y="5230368"/>
            <a:ext cx="996696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The model is useful because it forces assumptions to be quantified. It should be re-run weekly as new demand data arrives.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Task 1 corrections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formulation fixes changed the economics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07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1627632"/>
          <a:ext cx="4343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577840" y="1234440"/>
            <a:ext cx="498348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760720" y="135331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0071CE"/>
                </a:solidFill>
              </a:rPr>
              <a:t>Bug 1 — salvage treatment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760720" y="1618488"/>
            <a:ext cx="4617720" cy="621792"/>
          </a:xfrm>
          <a:prstGeom prst="rect">
            <a:avLst/>
          </a:prstGeom>
          <a:noFill/>
          <a:ln/>
        </p:spPr>
        <p:txBody>
          <a:bodyPr wrap="square" lIns="18288" tIns="18288" rIns="36576" bIns="18288" rtlCol="0" anchor="ctr">
            <a:normAutofit/>
          </a:bodyPr>
          <a:lstStyle/>
          <a:p>
            <a:pPr indent="0" marL="0" algn="l">
              <a:lnSpc>
                <a:spcPct val="92000"/>
              </a:lnSpc>
              <a:spcAft>
                <a:spcPts val="100"/>
              </a:spcAft>
              <a:buNone/>
            </a:pPr>
            <a:r>
              <a:rPr b="1" sz="1060">
                <a:solidFill>
                  <a:srgbClr val="2D3748"/>
                </a:solidFill>
              </a:rPr>
              <a:t>Was — </a:t>
            </a:r>
            <a:r>
              <a:rPr sz="1060">
                <a:solidFill>
                  <a:srgbClr val="2D3748"/>
                </a:solidFill>
              </a:rPr>
              <a:t>sim_profit subtracted salvage AND it was embedded in cₒ via CR.</a:t>
            </a:r>
            <a:endParaRPr lang="en-US" sz="1120" dirty="0"/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Fix — </a:t>
            </a:r>
            <a:r>
              <a:rPr sz="1060">
                <a:solidFill>
                  <a:srgbClr val="2D3748"/>
                </a:solidFill>
              </a:rPr>
              <a:t>Removed explicit salvage from sim_profit.</a:t>
            </a:r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Impact — </a:t>
            </a:r>
            <a:r>
              <a:rPr sz="1060">
                <a:solidFill>
                  <a:srgbClr val="2D3748"/>
                </a:solidFill>
              </a:rPr>
              <a:t>CR corrected from 0.532 to 0.618.</a:t>
            </a:r>
          </a:p>
        </p:txBody>
      </p:sp>
      <p:sp>
        <p:nvSpPr>
          <p:cNvPr id="12" name="Shape 9"/>
          <p:cNvSpPr/>
          <p:nvPr/>
        </p:nvSpPr>
        <p:spPr>
          <a:xfrm>
            <a:off x="5577840" y="2560320"/>
            <a:ext cx="498348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760720" y="267919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F9D55"/>
                </a:solidFill>
              </a:rPr>
              <a:t>Bug 2 — budget basis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760720" y="2944368"/>
            <a:ext cx="4617720" cy="621792"/>
          </a:xfrm>
          <a:prstGeom prst="rect">
            <a:avLst/>
          </a:prstGeom>
          <a:noFill/>
          <a:ln/>
        </p:spPr>
        <p:txBody>
          <a:bodyPr wrap="square" lIns="18288" tIns="18288" rIns="36576" bIns="18288" rtlCol="0" anchor="ctr">
            <a:normAutofit/>
          </a:bodyPr>
          <a:lstStyle/>
          <a:p>
            <a:pPr indent="0" marL="0" algn="l">
              <a:lnSpc>
                <a:spcPct val="92000"/>
              </a:lnSpc>
              <a:spcAft>
                <a:spcPts val="100"/>
              </a:spcAft>
              <a:buNone/>
            </a:pPr>
            <a:r>
              <a:rPr b="1" sz="1060">
                <a:solidFill>
                  <a:srgbClr val="2D3748"/>
                </a:solidFill>
              </a:rPr>
              <a:t>Was — </a:t>
            </a:r>
            <a:r>
              <a:rPr sz="1060">
                <a:solidFill>
                  <a:srgbClr val="2D3748"/>
                </a:solidFill>
              </a:rPr>
              <a:t>Budget used retail price ΣpᵢQᵢ, making the constraint ~1.43× tighter.</a:t>
            </a:r>
            <a:endParaRPr lang="en-US" sz="1120" dirty="0"/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Fix — </a:t>
            </a:r>
            <a:r>
              <a:rPr sz="1060">
                <a:solidFill>
                  <a:srgbClr val="2D3748"/>
                </a:solidFill>
              </a:rPr>
              <a:t>Rebased on supplier cost ΣcᵢQᵢ ≤ $3,500.</a:t>
            </a:r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Impact — </a:t>
            </a:r>
            <a:r>
              <a:rPr sz="1060">
                <a:solidFill>
                  <a:srgbClr val="2D3748"/>
                </a:solidFill>
              </a:rPr>
              <a:t>Budget no longer binds artificially.</a:t>
            </a:r>
          </a:p>
        </p:txBody>
      </p:sp>
      <p:sp>
        <p:nvSpPr>
          <p:cNvPr id="15" name="Shape 12"/>
          <p:cNvSpPr/>
          <p:nvPr/>
        </p:nvSpPr>
        <p:spPr>
          <a:xfrm>
            <a:off x="5577840" y="3886200"/>
            <a:ext cx="498348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760720" y="4005072"/>
            <a:ext cx="4617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F59E0B"/>
                </a:solidFill>
              </a:rPr>
              <a:t>Bug 3 — warm-start bias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760720" y="4270248"/>
            <a:ext cx="4617720" cy="621792"/>
          </a:xfrm>
          <a:prstGeom prst="rect">
            <a:avLst/>
          </a:prstGeom>
          <a:noFill/>
          <a:ln/>
        </p:spPr>
        <p:txBody>
          <a:bodyPr wrap="square" lIns="18288" tIns="18288" rIns="36576" bIns="18288" rtlCol="0" anchor="ctr">
            <a:normAutofit/>
          </a:bodyPr>
          <a:lstStyle/>
          <a:p>
            <a:pPr indent="0" marL="0" algn="l">
              <a:lnSpc>
                <a:spcPct val="92000"/>
              </a:lnSpc>
              <a:spcAft>
                <a:spcPts val="100"/>
              </a:spcAft>
              <a:buNone/>
            </a:pPr>
            <a:r>
              <a:rPr b="1" sz="1060">
                <a:solidFill>
                  <a:srgbClr val="2D3748"/>
                </a:solidFill>
              </a:rPr>
              <a:t>Was — </a:t>
            </a:r>
            <a:r>
              <a:rPr sz="1060">
                <a:solidFill>
                  <a:srgbClr val="2D3748"/>
                </a:solidFill>
              </a:rPr>
              <a:t>Warm-start forced every SKU to the 92nd percentile regardless of CR.</a:t>
            </a:r>
            <a:endParaRPr lang="en-US" sz="1120" dirty="0"/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Fix — </a:t>
            </a:r>
            <a:r>
              <a:rPr sz="1060">
                <a:solidFill>
                  <a:srgbClr val="2D3748"/>
                </a:solidFill>
              </a:rPr>
              <a:t>Q₀ = F⁻¹(CR) only.</a:t>
            </a:r>
          </a:p>
          <a:p>
            <a:pPr algn="l">
              <a:lnSpc>
                <a:spcPct val="92000"/>
              </a:lnSpc>
              <a:spcAft>
                <a:spcPts val="100"/>
              </a:spcAft>
            </a:pPr>
            <a:r>
              <a:rPr b="1" sz="1060">
                <a:solidFill>
                  <a:srgbClr val="2D3748"/>
                </a:solidFill>
              </a:rPr>
              <a:t>Impact — </a:t>
            </a:r>
            <a:r>
              <a:rPr sz="1060">
                <a:solidFill>
                  <a:srgbClr val="2D3748"/>
                </a:solidFill>
              </a:rPr>
              <a:t>Solver starts at the economically correct point.</a:t>
            </a:r>
          </a:p>
        </p:txBody>
      </p:sp>
      <p:sp>
        <p:nvSpPr>
          <p:cNvPr id="18" name="Text 15"/>
          <p:cNvSpPr/>
          <p:nvPr/>
        </p:nvSpPr>
        <p:spPr>
          <a:xfrm>
            <a:off x="5577840" y="517550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9D55"/>
                </a:solidFill>
              </a:rPr>
              <a:t>+$168.06 / week  (+112.6%)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Task 1 results and KKT check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Corrected policy creates slack, but feasibility must be verified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210312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1508760"/>
            <a:ext cx="64008" cy="95097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0392" y="16184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Expected profit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850392" y="1837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$317.31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" y="22219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per week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2971800" y="1508760"/>
            <a:ext cx="210312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71800" y="1508760"/>
            <a:ext cx="64008" cy="9509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136392" y="16184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Total units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136392" y="1837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643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136392" y="22219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53.6% of capacity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257800" y="1508760"/>
            <a:ext cx="210312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257800" y="1508760"/>
            <a:ext cx="64008" cy="950976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22392" y="16184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Procurement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422392" y="1837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$1,053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22392" y="22219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30.1% of budget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7543800" y="1508760"/>
            <a:ext cx="210312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43800" y="1508760"/>
            <a:ext cx="64008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708392" y="1618488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Avg fill rate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7708392" y="1837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31.8%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708392" y="22219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target: 35%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713232" y="2971800"/>
            <a:ext cx="2240280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8096" y="30449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KKT item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2953512" y="2971800"/>
            <a:ext cx="2057400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008376" y="304495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Report status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5010912" y="2971800"/>
            <a:ext cx="5394960" cy="384048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65776" y="3044952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FFFFFF"/>
                </a:solidFill>
              </a:rPr>
              <a:t>Interpretation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713232" y="3355848"/>
            <a:ext cx="224028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68096" y="3429000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Budget / storage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2953512" y="3355848"/>
            <a:ext cx="205740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008376" y="3429000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PASS</a:t>
            </a:r>
            <a:endParaRPr lang="en-US" sz="890" dirty="0"/>
          </a:p>
        </p:txBody>
      </p:sp>
      <p:sp>
        <p:nvSpPr>
          <p:cNvPr id="38" name="Shape 36"/>
          <p:cNvSpPr/>
          <p:nvPr/>
        </p:nvSpPr>
        <p:spPr>
          <a:xfrm>
            <a:off x="5010912" y="3355848"/>
            <a:ext cx="539496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65776" y="3429000"/>
            <a:ext cx="5285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Large slack; shadow price ≈ $0</a:t>
            </a:r>
            <a:endParaRPr lang="en-US" sz="890" dirty="0"/>
          </a:p>
        </p:txBody>
      </p:sp>
      <p:sp>
        <p:nvSpPr>
          <p:cNvPr id="40" name="Shape 38"/>
          <p:cNvSpPr/>
          <p:nvPr/>
        </p:nvSpPr>
        <p:spPr>
          <a:xfrm>
            <a:off x="713232" y="3767328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68096" y="3840480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Dual feasibility</a:t>
            </a:r>
            <a:endParaRPr lang="en-US" sz="890" dirty="0"/>
          </a:p>
        </p:txBody>
      </p:sp>
      <p:sp>
        <p:nvSpPr>
          <p:cNvPr id="42" name="Shape 40"/>
          <p:cNvSpPr/>
          <p:nvPr/>
        </p:nvSpPr>
        <p:spPr>
          <a:xfrm>
            <a:off x="2953512" y="3767328"/>
            <a:ext cx="2057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008376" y="3840480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PASS</a:t>
            </a:r>
            <a:endParaRPr lang="en-US" sz="890" dirty="0"/>
          </a:p>
        </p:txBody>
      </p:sp>
      <p:sp>
        <p:nvSpPr>
          <p:cNvPr id="44" name="Shape 42"/>
          <p:cNvSpPr/>
          <p:nvPr/>
        </p:nvSpPr>
        <p:spPr>
          <a:xfrm>
            <a:off x="5010912" y="3767328"/>
            <a:ext cx="5394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065776" y="3840480"/>
            <a:ext cx="5285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Multipliers non-negative</a:t>
            </a:r>
            <a:endParaRPr lang="en-US" sz="890" dirty="0"/>
          </a:p>
        </p:txBody>
      </p:sp>
      <p:sp>
        <p:nvSpPr>
          <p:cNvPr id="46" name="Shape 44"/>
          <p:cNvSpPr/>
          <p:nvPr/>
        </p:nvSpPr>
        <p:spPr>
          <a:xfrm>
            <a:off x="713232" y="4178808"/>
            <a:ext cx="224028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768096" y="4251960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Complementary slackness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2953512" y="4178808"/>
            <a:ext cx="205740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008376" y="4251960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PASS</a:t>
            </a:r>
            <a:endParaRPr lang="en-US" sz="890" dirty="0"/>
          </a:p>
        </p:txBody>
      </p:sp>
      <p:sp>
        <p:nvSpPr>
          <p:cNvPr id="50" name="Shape 48"/>
          <p:cNvSpPr/>
          <p:nvPr/>
        </p:nvSpPr>
        <p:spPr>
          <a:xfrm>
            <a:off x="5010912" y="4178808"/>
            <a:ext cx="539496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65776" y="4251960"/>
            <a:ext cx="5285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Inactive constraints have zero value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713232" y="4590288"/>
            <a:ext cx="22402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68096" y="4663440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Primal feasibility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2953512" y="4590288"/>
            <a:ext cx="20574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008376" y="4663440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PARTIAL FAIL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5010912" y="4590288"/>
            <a:ext cx="5394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065776" y="4663440"/>
            <a:ext cx="5285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Several SKUs below 35% fill-rate floor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713232" y="5001768"/>
            <a:ext cx="224028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68096" y="5074920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Solver status</a:t>
            </a:r>
            <a:endParaRPr lang="en-US" sz="890" dirty="0"/>
          </a:p>
        </p:txBody>
      </p:sp>
      <p:sp>
        <p:nvSpPr>
          <p:cNvPr id="60" name="Shape 58"/>
          <p:cNvSpPr/>
          <p:nvPr/>
        </p:nvSpPr>
        <p:spPr>
          <a:xfrm>
            <a:off x="2953512" y="5001768"/>
            <a:ext cx="205740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008376" y="5074920"/>
            <a:ext cx="1947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Exit mode 9</a:t>
            </a:r>
            <a:endParaRPr lang="en-US" sz="890" dirty="0"/>
          </a:p>
        </p:txBody>
      </p:sp>
      <p:sp>
        <p:nvSpPr>
          <p:cNvPr id="62" name="Shape 60"/>
          <p:cNvSpPr/>
          <p:nvPr/>
        </p:nvSpPr>
        <p:spPr>
          <a:xfrm>
            <a:off x="5010912" y="5001768"/>
            <a:ext cx="5394960" cy="41148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065776" y="5074920"/>
            <a:ext cx="5285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243B53"/>
                </a:solidFill>
              </a:rPr>
              <a:t>Iteration limit reached</a:t>
            </a:r>
            <a:endParaRPr lang="en-US" sz="8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Task 2 setup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Supplier terms make the problem discrete and non-convex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2788920"/>
            <a:ext cx="8869680" cy="0"/>
          </a:xfrm>
          <a:prstGeom prst="line">
            <a:avLst/>
          </a:prstGeom>
          <a:noFill/>
          <a:ln w="2540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5039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7627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483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215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12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2803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18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3912" y="2679192"/>
            <a:ext cx="219456" cy="219456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7979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8835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30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05672" y="2679192"/>
            <a:ext cx="219456" cy="21945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29718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3"/>
                </a:solidFill>
              </a:rPr>
              <a:t>36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14400" y="20848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case-pack multiples of 6 units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78040" y="1508760"/>
            <a:ext cx="3337560" cy="1051560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655064"/>
            <a:ext cx="2971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Discount threshold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360920" y="1947672"/>
            <a:ext cx="29718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At Q ≥ 24 units, supplier cost drops to 0.88 × cᵢ on all units.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914400" y="3977640"/>
            <a:ext cx="4343400" cy="1024128"/>
          </a:xfrm>
          <a:prstGeom prst="rect">
            <a:avLst/>
          </a:prstGeom>
          <a:solidFill>
            <a:srgbClr val="FFF1F0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12394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Why SLSQP no longer fits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97280" y="4416552"/>
            <a:ext cx="3977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All-units discounts create discontinuous cost jumps. Local gradient methods can miss the best discrete quantity.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5715000" y="3977640"/>
            <a:ext cx="434340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412394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Task 2 method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897880" y="4416552"/>
            <a:ext cx="3977640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Coordinate descent over {0, 6, 12, …, 150}, using 200 scenarios and 5 random restarts.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Task 2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Discount value more than offsets case-pack rounding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10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77240" y="1600200"/>
          <a:ext cx="53492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29400" y="1691640"/>
            <a:ext cx="224028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1691640"/>
            <a:ext cx="64008" cy="950976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93992" y="180136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Model C profit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6793992" y="20208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$451.58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93992" y="24048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+42.3% vs Model A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9098280" y="1691640"/>
            <a:ext cx="224028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E1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098280" y="1691640"/>
            <a:ext cx="64008" cy="9509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62872" y="1801368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5C6B73"/>
                </a:solidFill>
              </a:rPr>
              <a:t>Total units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9262872" y="202082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2A43"/>
                </a:solidFill>
              </a:rPr>
              <a:t>708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262872" y="240487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5C6B73"/>
                </a:solidFill>
              </a:rPr>
              <a:t>Models B and C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6629400" y="3063240"/>
            <a:ext cx="4709160" cy="950976"/>
          </a:xfrm>
          <a:prstGeom prst="rect">
            <a:avLst/>
          </a:prstGeom>
          <a:solidFill>
            <a:srgbClr val="FFF1F0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12280" y="320954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</a:rPr>
              <a:t>A → B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12280" y="3502152"/>
            <a:ext cx="4343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Case-pack rounding alone reduces profit by $6.38 because the policy carries extra units without lower cost.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629400" y="4251960"/>
            <a:ext cx="4709160" cy="95097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439826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</a:rPr>
              <a:t>B → C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812280" y="4690872"/>
            <a:ext cx="434340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The 12% all-units discount cuts procurement cost enough to recover value and add $134.27/week versus Model A.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Consolidated results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category manager should compare side-by-side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13232" y="1481328"/>
            <a:ext cx="233172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554480"/>
            <a:ext cx="2221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Metric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3044952" y="1481328"/>
            <a:ext cx="265176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9816" y="15544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Task 1 / Model A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5696712" y="1481328"/>
            <a:ext cx="265176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51576" y="15544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Model B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348472" y="1481328"/>
            <a:ext cx="2651760" cy="457200"/>
          </a:xfrm>
          <a:prstGeom prst="rect">
            <a:avLst/>
          </a:prstGeom>
          <a:solidFill>
            <a:srgbClr val="102A43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15544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</a:rPr>
              <a:t>Model C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13232" y="1938528"/>
            <a:ext cx="233172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011680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Expected weekly profit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044952" y="193852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9816" y="201168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$317.31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696712" y="193852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51576" y="201168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$310.93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348472" y="193852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201168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$451.58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13232" y="2441448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2514600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Profit delta vs A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044952" y="244144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99816" y="251460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—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96712" y="244144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1576" y="251460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−$6.38 / −2.0%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8348472" y="244144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03336" y="251460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+$134.27 / +42.3%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13232" y="2944368"/>
            <a:ext cx="233172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3017520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Total units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044952" y="294436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9816" y="301752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643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96712" y="294436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51576" y="301752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708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348472" y="294436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03336" y="301752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708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13232" y="3447288"/>
            <a:ext cx="2331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3520440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Procurement cost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044952" y="344728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99816" y="352044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$1,053.28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96712" y="344728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1576" y="352044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$1,172.08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8348472" y="3447288"/>
            <a:ext cx="2651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03336" y="352044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$1,031.43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713232" y="3950208"/>
            <a:ext cx="233172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" y="4023360"/>
            <a:ext cx="2221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Business read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3044952" y="395020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99816" y="402336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corrected baseline</a:t>
            </a:r>
            <a:endParaRPr lang="en-US" sz="980" dirty="0"/>
          </a:p>
        </p:txBody>
      </p:sp>
      <p:sp>
        <p:nvSpPr>
          <p:cNvPr id="52" name="Shape 50"/>
          <p:cNvSpPr/>
          <p:nvPr/>
        </p:nvSpPr>
        <p:spPr>
          <a:xfrm>
            <a:off x="5696712" y="395020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402336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rounding cost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8348472" y="3950208"/>
            <a:ext cx="2651760" cy="502920"/>
          </a:xfrm>
          <a:prstGeom prst="rect">
            <a:avLst/>
          </a:prstGeom>
          <a:solidFill>
            <a:srgbClr val="F2F6FA"/>
          </a:solidFill>
          <a:ln w="6350">
            <a:solidFill>
              <a:srgbClr val="D6E0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03336" y="4023360"/>
            <a:ext cx="2542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243B53"/>
                </a:solidFill>
              </a:rPr>
              <a:t>best supplier case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713232" y="4919472"/>
            <a:ext cx="4892040" cy="749808"/>
          </a:xfrm>
          <a:prstGeom prst="rect">
            <a:avLst/>
          </a:prstGeom>
          <a:solidFill>
            <a:srgbClr val="E8F3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96112" y="50657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Hold-out benchmark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96112" y="5358384"/>
            <a:ext cx="4526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Agent improved average profit by +5.1% versus rolling 4-week baseline; this is positive but below a 10% benchmark gate.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6172200" y="4919472"/>
            <a:ext cx="48920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50657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</a:rPr>
              <a:t>SKU focus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6355080" y="5358384"/>
            <a:ext cx="4526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HH1_110 is the strongest profit contributor at $44.84/week and should be monitored closely for stockouts.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Validation and confidence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we know the agent is directionally useful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517904"/>
            <a:ext cx="310896" cy="310896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8648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43"/>
                </a:solidFill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325880" y="148132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Optimization structure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1499616"/>
            <a:ext cx="6035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Task 1 is designed as a concave expected-profit objective with linear constraints; feasibility and convergence are the final certification checks.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22960" y="2478024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4660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5880" y="24414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SAA stability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6280" y="2459736"/>
            <a:ext cx="6035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1,000 scenarios reduce Monte Carlo noise and support average-profit decisioning instead of single forecast points.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22960" y="3438144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0672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340156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Hold-out testing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26280" y="3419856"/>
            <a:ext cx="6035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Weeks 79–104 show +5.1% over the rolling 4-week baseline, with strongest gains on asymmetric-cost SKUs.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22960" y="4398264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66844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25880" y="43616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</a:rPr>
              <a:t>Sensitivity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379976"/>
            <a:ext cx="60350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43B53"/>
                </a:solidFill>
              </a:rPr>
              <a:t>Fill-rate target is repeatedly identified as the highest-leverage management lever.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77240" y="5550408"/>
            <a:ext cx="10012680" cy="475488"/>
          </a:xfrm>
          <a:prstGeom prst="rect">
            <a:avLst/>
          </a:prstGeom>
          <a:solidFill>
            <a:srgbClr val="FFF1F0"/>
          </a:solidFill>
          <a:ln w="10160">
            <a:solidFill>
              <a:srgbClr val="F5C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705856"/>
            <a:ext cx="9601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C0392B"/>
                </a:solidFill>
              </a:rPr>
              <a:t>Caution: Bayesian optimization is best framed as cost-parameter scenario exploration, not proof that real-world profit automatically increases.</a:t>
            </a:r>
            <a:endParaRPr lang="en-US" sz="10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Lessons learned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optimization exercise revealed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4892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465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Formulation errors compound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 wrong budget basis or cost term can change which constraint appears binding and alter the entire solution.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144768" y="1600200"/>
            <a:ext cx="4892040" cy="1325880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74650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Service targets need demand reality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27648" y="2039112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A 72% target was aspirational; the modeled achievable range is closer to 25–35% for these SKUs.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77240" y="3703320"/>
            <a:ext cx="4892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4962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Solver choice depends on landscape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4142232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SLSQP fits the continuous Task 1 formulation; case-pack discounts require discrete non-convex search.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144768" y="3703320"/>
            <a:ext cx="489204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384962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Prediction is not prescription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27648" y="4142232"/>
            <a:ext cx="452628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The mean is not the best order quantity when underage and overage costs are asymmetric.</a:t>
            </a:r>
            <a:endParaRPr lang="en-US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Agent flowchart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weekly decision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B53"/>
                </a:solidFill>
              </a:rPr>
              <a:t>The notebook behaves like a decision agent: it ingests data, models demand, optimizes under constraints, validates, tunes, then produces a weekly order recommendation.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2226564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097280" y="2738628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97280" y="3250692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97280" y="3762756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97280" y="4274820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97280" y="4786884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97280" y="5298948"/>
            <a:ext cx="0" cy="100584"/>
          </a:xfrm>
          <a:prstGeom prst="line">
            <a:avLst/>
          </a:prstGeom>
          <a:noFill/>
          <a:ln w="13970">
            <a:solidFill>
              <a:srgbClr val="0071C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9808" y="1783080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" y="1874520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1938528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01</a:t>
            </a:r>
            <a:endParaRPr lang="en-US" sz="580" dirty="0"/>
          </a:p>
        </p:txBody>
      </p:sp>
      <p:sp>
        <p:nvSpPr>
          <p:cNvPr id="19" name="Text 17"/>
          <p:cNvSpPr/>
          <p:nvPr/>
        </p:nvSpPr>
        <p:spPr>
          <a:xfrm>
            <a:off x="1252728" y="1883664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Data load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38728" y="1892808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M5 sales → weekly demand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" y="2295144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E8F3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2386584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" y="2450592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02</a:t>
            </a:r>
            <a:endParaRPr lang="en-US" sz="580" dirty="0"/>
          </a:p>
        </p:txBody>
      </p:sp>
      <p:sp>
        <p:nvSpPr>
          <p:cNvPr id="24" name="Text 22"/>
          <p:cNvSpPr/>
          <p:nvPr/>
        </p:nvSpPr>
        <p:spPr>
          <a:xfrm>
            <a:off x="1252728" y="239572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Distribution fit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38728" y="2404872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AIC + KS validation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49808" y="2807208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7824" y="2898648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2962656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03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1252728" y="290779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SAA generation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38728" y="2916936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1,000 demand scenarios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" y="3319272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E8F3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3410712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" y="3474720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04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1252728" y="3419856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Task 1 SLSQP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538728" y="3429000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Q* + KKT audit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" y="3831336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922776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" y="3986784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05</a:t>
            </a:r>
            <a:endParaRPr lang="en-US" sz="580" dirty="0"/>
          </a:p>
        </p:txBody>
      </p:sp>
      <p:sp>
        <p:nvSpPr>
          <p:cNvPr id="39" name="Text 37"/>
          <p:cNvSpPr/>
          <p:nvPr/>
        </p:nvSpPr>
        <p:spPr>
          <a:xfrm>
            <a:off x="1252728" y="3931920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Task 2 grid search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38728" y="3941064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case packs + discount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49808" y="4343400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E8F3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7824" y="4434840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4498848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06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1252728" y="4443984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Benchmark gate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538728" y="4453128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hold-out weeks 79–104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49808" y="4855464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D6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7824" y="4946904"/>
            <a:ext cx="256032" cy="256032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6968" y="5010912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</a:rPr>
              <a:t>07</a:t>
            </a:r>
            <a:endParaRPr lang="en-US" sz="580" dirty="0"/>
          </a:p>
        </p:txBody>
      </p:sp>
      <p:sp>
        <p:nvSpPr>
          <p:cNvPr id="49" name="Text 47"/>
          <p:cNvSpPr/>
          <p:nvPr/>
        </p:nvSpPr>
        <p:spPr>
          <a:xfrm>
            <a:off x="1252728" y="4956048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02A43"/>
                </a:solidFill>
              </a:rPr>
              <a:t>Sensitivity + BO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538728" y="4965192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243B53"/>
                </a:solidFill>
              </a:rPr>
              <a:t>levers and scenarios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49808" y="5367528"/>
            <a:ext cx="6949440" cy="438912"/>
          </a:xfrm>
          <a:prstGeom prst="roundRect">
            <a:avLst>
              <a:gd name="adj" fmla="val 10417"/>
            </a:avLst>
          </a:prstGeom>
          <a:solidFill>
            <a:srgbClr val="102A43"/>
          </a:solidFill>
          <a:ln w="10160">
            <a:solidFill>
              <a:srgbClr val="102A4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7824" y="5458968"/>
            <a:ext cx="256032" cy="256032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86968" y="5522976"/>
            <a:ext cx="23774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102A43"/>
                </a:solidFill>
              </a:rPr>
              <a:t>08</a:t>
            </a:r>
            <a:endParaRPr lang="en-US" sz="580" dirty="0"/>
          </a:p>
        </p:txBody>
      </p:sp>
      <p:sp>
        <p:nvSpPr>
          <p:cNvPr id="54" name="Text 52"/>
          <p:cNvSpPr/>
          <p:nvPr/>
        </p:nvSpPr>
        <p:spPr>
          <a:xfrm>
            <a:off x="1252728" y="5468112"/>
            <a:ext cx="2011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Recommendation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538728" y="5477256"/>
            <a:ext cx="3429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DDEBFF"/>
                </a:solidFill>
              </a:rPr>
              <a:t>SKU-level order plan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275320" y="1920240"/>
            <a:ext cx="2834640" cy="1005840"/>
          </a:xfrm>
          <a:prstGeom prst="rect">
            <a:avLst/>
          </a:prstGeom>
          <a:solidFill>
            <a:srgbClr val="FFF5D6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58200" y="206654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Decision branch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458200" y="2359152"/>
            <a:ext cx="2468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If fill-rate is infeasible, relax RHS and rerun optimization.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8275320" y="3383280"/>
            <a:ext cx="283464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58200" y="352958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71CE"/>
                </a:solidFill>
              </a:rPr>
              <a:t>Output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458200" y="3822192"/>
            <a:ext cx="24688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Q* per SKU, expected profit, budget/storage slack, and recommended supplier action.</a:t>
            </a:r>
            <a:endParaRPr lang="en-US" sz="1120" dirty="0"/>
          </a:p>
        </p:txBody>
      </p:sp>
      <p:sp>
        <p:nvSpPr>
          <p:cNvPr id="62" name="Shape 60"/>
          <p:cNvSpPr/>
          <p:nvPr/>
        </p:nvSpPr>
        <p:spPr>
          <a:xfrm>
            <a:off x="8275320" y="4846320"/>
            <a:ext cx="28346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58200" y="49926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9D55"/>
                </a:solidFill>
              </a:rPr>
              <a:t>Weekly use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458200" y="5285232"/>
            <a:ext cx="2468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43B53"/>
                </a:solidFill>
              </a:rPr>
              <a:t>Re-run as fresh demand data arrives.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E"/>
                </a:solidFill>
              </a:rPr>
              <a:t>Wrap-up and recommendation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 carefully, negotiate aggressively, rerun weekly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2057400" cy="0"/>
          </a:xfrm>
          <a:prstGeom prst="line">
            <a:avLst/>
          </a:prstGeom>
          <a:noFill/>
          <a:ln w="50800">
            <a:solidFill>
              <a:srgbClr val="FFC2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762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5C6B73"/>
                </a:solidFill>
              </a:rPr>
              <a:t>MGMT590-037 · AI-Enhanced Optimization · Written Report / Deliverable 2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11201400" y="65379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C6B73"/>
                </a:solidFill>
              </a:rPr>
              <a:t>15</a:t>
            </a:r>
            <a:endParaRPr lang="en-US" sz="800" dirty="0"/>
          </a:p>
        </p:txBody>
      </p:sp>
      <p:pic>
        <p:nvPicPr>
          <p:cNvPr id="8" name="Image 0" descr="/mnt/data/walmart_stocking.jpg">    </p:cNvPr>
          <p:cNvPicPr>
            <a:picLocks noChangeAspect="1"/>
          </p:cNvPicPr>
          <p:nvPr/>
        </p:nvPicPr>
        <p:blipFill>
          <a:blip r:embed="rId1"/>
          <a:srcRect l="10000" r="39474" t="0" b="0"/>
          <a:stretch/>
        </p:blipFill>
        <p:spPr>
          <a:xfrm>
            <a:off x="7818120" y="1325880"/>
            <a:ext cx="3291840" cy="434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4672" y="1353312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4672" y="141732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/>
              <a:t>1</a:t>
            </a:r>
          </a:p>
        </p:txBody>
      </p:sp>
      <p:sp>
        <p:nvSpPr>
          <p:cNvPr id="11" name="Text 8"/>
          <p:cNvSpPr/>
          <p:nvPr/>
        </p:nvSpPr>
        <p:spPr>
          <a:xfrm>
            <a:off x="1353312" y="133502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20"/>
              <a:t>R1 · Use corrected Q* policy as the planning baseline</a:t>
            </a:r>
          </a:p>
        </p:txBody>
      </p:sp>
      <p:sp>
        <p:nvSpPr>
          <p:cNvPr id="12" name="Text 9"/>
          <p:cNvSpPr/>
          <p:nvPr/>
        </p:nvSpPr>
        <p:spPr>
          <a:xfrm>
            <a:off x="1353312" y="163677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80"/>
              <a:t>Worth +$168.06/wk (+112.6%) over the original formulation.</a:t>
            </a:r>
          </a:p>
        </p:txBody>
      </p:sp>
      <p:sp>
        <p:nvSpPr>
          <p:cNvPr id="13" name="Shape 10"/>
          <p:cNvSpPr/>
          <p:nvPr/>
        </p:nvSpPr>
        <p:spPr>
          <a:xfrm>
            <a:off x="804672" y="2176272"/>
            <a:ext cx="310896" cy="310896"/>
          </a:xfrm>
          <a:prstGeom prst="ellipse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4672" y="224028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/>
              <a:t>2</a:t>
            </a:r>
          </a:p>
        </p:txBody>
      </p:sp>
      <p:sp>
        <p:nvSpPr>
          <p:cNvPr id="15" name="Text 12"/>
          <p:cNvSpPr/>
          <p:nvPr/>
        </p:nvSpPr>
        <p:spPr>
          <a:xfrm>
            <a:off x="1353312" y="215798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20"/>
              <a:t>R2 · Negotiate the 12% all-units case-pack discount</a:t>
            </a:r>
          </a:p>
        </p:txBody>
      </p:sp>
      <p:sp>
        <p:nvSpPr>
          <p:cNvPr id="16" name="Text 13"/>
          <p:cNvSpPr/>
          <p:nvPr/>
        </p:nvSpPr>
        <p:spPr>
          <a:xfrm>
            <a:off x="1353312" y="245973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80"/>
              <a:t>Model C delivers $451.58/wk, +$134.27 vs the corrected baseline.</a:t>
            </a:r>
          </a:p>
        </p:txBody>
      </p:sp>
      <p:sp>
        <p:nvSpPr>
          <p:cNvPr id="17" name="Shape 14"/>
          <p:cNvSpPr/>
          <p:nvPr/>
        </p:nvSpPr>
        <p:spPr>
          <a:xfrm>
            <a:off x="804672" y="2999232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" y="3063240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/>
              <a:t>3</a:t>
            </a:r>
          </a:p>
        </p:txBody>
      </p:sp>
      <p:sp>
        <p:nvSpPr>
          <p:cNvPr id="19" name="Text 16"/>
          <p:cNvSpPr/>
          <p:nvPr/>
        </p:nvSpPr>
        <p:spPr>
          <a:xfrm>
            <a:off x="1353312" y="2980944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20"/>
              <a:t>R3 · Resolve fill-rate feasibility before claiming final optimality</a:t>
            </a:r>
          </a:p>
        </p:txBody>
      </p:sp>
      <p:sp>
        <p:nvSpPr>
          <p:cNvPr id="20" name="Text 17"/>
          <p:cNvSpPr/>
          <p:nvPr/>
        </p:nvSpPr>
        <p:spPr>
          <a:xfrm>
            <a:off x="1353312" y="328269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80"/>
              <a:t>A strictly feasible rerun is needed under the 35% service floor.</a:t>
            </a:r>
          </a:p>
        </p:txBody>
      </p:sp>
      <p:sp>
        <p:nvSpPr>
          <p:cNvPr id="21" name="Shape 18"/>
          <p:cNvSpPr/>
          <p:nvPr/>
        </p:nvSpPr>
        <p:spPr>
          <a:xfrm>
            <a:off x="804672" y="3822191"/>
            <a:ext cx="310896" cy="310896"/>
          </a:xfrm>
          <a:prstGeom prst="ellipse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04672" y="3886199"/>
            <a:ext cx="3108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950"/>
              <a:t>4</a:t>
            </a:r>
          </a:p>
        </p:txBody>
      </p:sp>
      <p:sp>
        <p:nvSpPr>
          <p:cNvPr id="23" name="Text 20"/>
          <p:cNvSpPr/>
          <p:nvPr/>
        </p:nvSpPr>
        <p:spPr>
          <a:xfrm>
            <a:off x="1353312" y="3803903"/>
            <a:ext cx="5257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320"/>
              <a:t>R4 · Operationalize the notebook as a weekly agent</a:t>
            </a:r>
          </a:p>
        </p:txBody>
      </p:sp>
      <p:sp>
        <p:nvSpPr>
          <p:cNvPr id="24" name="Text 21"/>
          <p:cNvSpPr/>
          <p:nvPr/>
        </p:nvSpPr>
        <p:spPr>
          <a:xfrm>
            <a:off x="1353312" y="4105655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080"/>
              <a:t>Refresh demand, rerun optimization, and monitor HH1_110 stockouts.</a:t>
            </a:r>
          </a:p>
        </p:txBody>
      </p:sp>
      <p:sp>
        <p:nvSpPr>
          <p:cNvPr id="25" name="Oval 24"/>
          <p:cNvSpPr/>
          <p:nvPr/>
        </p:nvSpPr>
        <p:spPr>
          <a:xfrm>
            <a:off x="804672" y="4645152"/>
            <a:ext cx="310896" cy="310896"/>
          </a:xfrm>
          <a:prstGeom prst="ellipse">
            <a:avLst/>
          </a:prstGeom>
          <a:solidFill>
            <a:srgbClr val="274B70"/>
          </a:solidFill>
          <a:ln>
            <a:solidFill>
              <a:srgbClr val="274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626864"/>
            <a:ext cx="5257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1320">
                <a:solidFill>
                  <a:srgbClr val="1F2937"/>
                </a:solidFill>
              </a:rPr>
              <a:t>R5 · Extend to seasonal effects and multi-period carry-over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4928616"/>
            <a:ext cx="5166360" cy="402336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r>
              <a:rPr sz="1080">
                <a:solidFill>
                  <a:srgbClr val="4B5563"/>
                </a:solidFill>
              </a:rPr>
              <a:t>Stationarity assumption will underperform during promotional weeks.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Inventory Optimization Agent</dc:title>
  <dc:subject>AI-Driven Inventory Optimization Agent presentation</dc:subject>
  <dc:creator>OpenAI</dc:creator>
  <cp:lastModifiedBy>OpenAI</cp:lastModifiedBy>
  <cp:revision>1</cp:revision>
  <dcterms:created xsi:type="dcterms:W3CDTF">2026-06-11T07:09:01Z</dcterms:created>
  <dcterms:modified xsi:type="dcterms:W3CDTF">2026-06-11T07:09:01Z</dcterms:modified>
</cp:coreProperties>
</file>